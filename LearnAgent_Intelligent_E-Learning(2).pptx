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92121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85725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020691"/>
            <a:ext cx="4886325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020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LearnAgent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571500" y="1666475"/>
            <a:ext cx="488632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Intelligent E-Learning Platform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1500" y="2386208"/>
            <a:ext cx="488632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2" kern="0" dirty="0">
                <a:solidFill>
                  <a:srgbClr val="EC48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CORE FEATURES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71500" y="2593377"/>
            <a:ext cx="4886325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• Semantic Recommendation</a:t>
            </a:r>
            <a:r>
              <a:rPr lang="en-US" sz="105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r>
              <a:rPr lang="en-US" sz="105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• Progress Tracking</a:t>
            </a:r>
            <a:r>
              <a:rPr lang="en-US" sz="105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r>
              <a:rPr lang="en-US" sz="105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• Pedagogical Gap Detection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" y="3411336"/>
            <a:ext cx="4886325" cy="507206"/>
          </a:xfrm>
          <a:prstGeom prst="rect">
            <a:avLst/>
          </a:prstGeom>
          <a:noFill/>
          <a:ln/>
        </p:spPr>
        <p:txBody>
          <a:bodyPr wrap="square" lIns="0" tIns="0" rIns="0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>
                    <a:alpha val="8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École Nationale d’Ingénieurs de Sfax (ENIS)</a:t>
            </a:r>
            <a:r>
              <a:rPr lang="en-US" sz="1050" dirty="0">
                <a:solidFill>
                  <a:srgbClr val="1E293B">
                    <a:alpha val="8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r>
              <a:rPr lang="en-US" sz="1050" dirty="0">
                <a:solidFill>
                  <a:srgbClr val="1E293B">
                    <a:alpha val="8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Academic Year 2025–2026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57825" y="0"/>
            <a:ext cx="3686175" cy="514350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11" name="Text 8"/>
          <p:cNvSpPr/>
          <p:nvPr/>
        </p:nvSpPr>
        <p:spPr>
          <a:xfrm>
            <a:off x="5886450" y="714375"/>
            <a:ext cx="325755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2" kern="0" dirty="0">
                <a:solidFill>
                  <a:srgbClr val="EC48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PRESENTED BY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450" y="933152"/>
            <a:ext cx="100013" cy="1143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072188" y="921544"/>
            <a:ext cx="99833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Wassim Abdelhedi</a:t>
            </a:r>
            <a:endParaRPr lang="en-US" sz="8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450" y="1113532"/>
            <a:ext cx="100013" cy="1143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72188" y="1101923"/>
            <a:ext cx="7429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Donia Bahloul</a:t>
            </a:r>
            <a:endParaRPr lang="en-US" sz="8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450" y="1293912"/>
            <a:ext cx="100013" cy="1143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72188" y="1282303"/>
            <a:ext cx="63936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Amin Frikha</a:t>
            </a:r>
            <a:endParaRPr lang="en-US" sz="850" dirty="0"/>
          </a:p>
        </p:txBody>
      </p:sp>
      <p:sp>
        <p:nvSpPr>
          <p:cNvPr id="18" name="Text 12"/>
          <p:cNvSpPr/>
          <p:nvPr/>
        </p:nvSpPr>
        <p:spPr>
          <a:xfrm>
            <a:off x="5886450" y="1748433"/>
            <a:ext cx="325755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2" kern="0" dirty="0">
                <a:solidFill>
                  <a:srgbClr val="EC48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SUPERVISED BY</a:t>
            </a:r>
            <a:endParaRPr lang="en-US" sz="9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6450" y="1967210"/>
            <a:ext cx="142875" cy="1143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115050" y="1955602"/>
            <a:ext cx="122693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Mme. Sahla Masmoudi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20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Challenges in Traditional E-Learning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55502"/>
            <a:ext cx="182166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0822" y="1132284"/>
            <a:ext cx="124658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8B5CF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71500" y="1635919"/>
            <a:ext cx="3786188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06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Information Overload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71500" y="1894880"/>
            <a:ext cx="37861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struggle to navigate vast, unstructured online resources, leading to confusion and inefficiency.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571500" y="2602111"/>
            <a:ext cx="3786188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06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Lack of Personalization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71500" y="2861072"/>
            <a:ext cx="37861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platforms fail to adapt to individual learning speeds, styles, and specific pedagogical gaps.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71500" y="3568303"/>
            <a:ext cx="3786188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06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Engagement &amp; Motivation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71500" y="3827264"/>
            <a:ext cx="37861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structured guidance and clear progression, learners often lose motivation and drop out.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786313" y="1132284"/>
            <a:ext cx="3786188" cy="314325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13" name="Shape 9"/>
          <p:cNvSpPr/>
          <p:nvPr/>
        </p:nvSpPr>
        <p:spPr>
          <a:xfrm>
            <a:off x="4786313" y="1132284"/>
            <a:ext cx="42863" cy="314325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4" name="Text 10"/>
          <p:cNvSpPr/>
          <p:nvPr/>
        </p:nvSpPr>
        <p:spPr>
          <a:xfrm>
            <a:off x="5072063" y="1418034"/>
            <a:ext cx="321468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C489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LearnAgent Solution</a:t>
            </a:r>
            <a:endParaRPr lang="en-US" sz="17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063" y="1910953"/>
            <a:ext cx="114300" cy="1143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93519" y="1875234"/>
            <a:ext cx="299323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Paths:</a:t>
            </a:r>
            <a:r>
              <a:rPr lang="en-US" sz="95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Sequential chapter-based </a:t>
            </a:r>
            <a:r>
              <a:rPr lang="en-US" sz="95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with strict progression control.</a:t>
            </a:r>
            <a:endParaRPr lang="en-US" sz="9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063" y="2413862"/>
            <a:ext cx="114300" cy="1143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93519" y="2378143"/>
            <a:ext cx="299323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AI-Driven:</a:t>
            </a:r>
            <a:r>
              <a:rPr lang="en-US" sz="95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Semantic recommendation and gap </a:t>
            </a:r>
            <a:r>
              <a:rPr lang="en-US" sz="95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detection for a truly personalized experience.</a:t>
            </a:r>
            <a:endParaRPr lang="en-US" sz="9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2063" y="2916771"/>
            <a:ext cx="114300" cy="1143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93519" y="2881052"/>
            <a:ext cx="299323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Support:</a:t>
            </a:r>
            <a:r>
              <a:rPr lang="en-US" sz="95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24/7 pedagogical assistance </a:t>
            </a:r>
            <a:r>
              <a:rPr lang="en-US" sz="95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via an integrated AI tutor.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20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Agile Scrum Methodology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060847"/>
            <a:ext cx="2476509" cy="1000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60847"/>
            <a:ext cx="28575" cy="100012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3"/>
          <p:cNvSpPr/>
          <p:nvPr/>
        </p:nvSpPr>
        <p:spPr>
          <a:xfrm>
            <a:off x="750094" y="1203722"/>
            <a:ext cx="210026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PRODUCT OWNER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50094" y="1439466"/>
            <a:ext cx="210026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Defined vision, prioritized backlog, and ensured alignment with pedagogical goals.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314700" y="1060847"/>
            <a:ext cx="2486025" cy="1000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3314700" y="1060847"/>
            <a:ext cx="28575" cy="100012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7"/>
          <p:cNvSpPr/>
          <p:nvPr/>
        </p:nvSpPr>
        <p:spPr>
          <a:xfrm>
            <a:off x="3502809" y="1203722"/>
            <a:ext cx="210977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SCRUM MASTER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502809" y="1439466"/>
            <a:ext cx="2109778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Facilitated ceremonies, removed blockers, and maintained agile discipline.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076931" y="1060847"/>
            <a:ext cx="2495541" cy="1000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076931" y="1060847"/>
            <a:ext cx="28575" cy="100012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1"/>
          <p:cNvSpPr/>
          <p:nvPr/>
        </p:nvSpPr>
        <p:spPr>
          <a:xfrm>
            <a:off x="6274612" y="1203722"/>
            <a:ext cx="2119322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DEV TEAM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274612" y="1439466"/>
            <a:ext cx="2119322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Full-stack development across React, Spring Boot, and Python FastAPI.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71500" y="2703909"/>
            <a:ext cx="8001000" cy="14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7" name="Shape 14"/>
          <p:cNvSpPr/>
          <p:nvPr/>
        </p:nvSpPr>
        <p:spPr>
          <a:xfrm>
            <a:off x="900113" y="2418159"/>
            <a:ext cx="628650" cy="628650"/>
          </a:xfrm>
          <a:prstGeom prst="rect">
            <a:avLst/>
          </a:prstGeom>
          <a:solidFill>
            <a:srgbClr val="020617"/>
          </a:solidFill>
          <a:ln w="27432">
            <a:solidFill>
              <a:srgbClr val="F1F5F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0113" y="2418159"/>
            <a:ext cx="62865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S1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979587" y="3132534"/>
            <a:ext cx="46970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06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Security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71500" y="3336131"/>
            <a:ext cx="1285875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Auth, JWT, &amp; RBAC implementation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2578894" y="2418159"/>
            <a:ext cx="628650" cy="628650"/>
          </a:xfrm>
          <a:prstGeom prst="rect">
            <a:avLst/>
          </a:prstGeom>
          <a:solidFill>
            <a:srgbClr val="020617"/>
          </a:solidFill>
          <a:ln w="27432">
            <a:solidFill>
              <a:srgbClr val="F1F5F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578894" y="2418159"/>
            <a:ext cx="62865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S2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2567285" y="3132534"/>
            <a:ext cx="65186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06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Core Engine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2250281" y="3336131"/>
            <a:ext cx="1285875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 management &amp; progression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4257675" y="2418159"/>
            <a:ext cx="628650" cy="628650"/>
          </a:xfrm>
          <a:prstGeom prst="rect">
            <a:avLst/>
          </a:prstGeom>
          <a:solidFill>
            <a:srgbClr val="020617"/>
          </a:solidFill>
          <a:ln w="27432">
            <a:solidFill>
              <a:srgbClr val="F1F5F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57675" y="2418159"/>
            <a:ext cx="62865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S3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293394" y="3132534"/>
            <a:ext cx="55721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06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Pedagogy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950494" y="3336131"/>
            <a:ext cx="1243013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system &amp; evaluations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5936456" y="2418159"/>
            <a:ext cx="628650" cy="628650"/>
          </a:xfrm>
          <a:prstGeom prst="rect">
            <a:avLst/>
          </a:prstGeom>
          <a:solidFill>
            <a:srgbClr val="020617"/>
          </a:solidFill>
          <a:ln w="27432">
            <a:solidFill>
              <a:srgbClr val="F1F5F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36456" y="2418159"/>
            <a:ext cx="62865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S4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5926634" y="3132534"/>
            <a:ext cx="64829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06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Intelligence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607844" y="3336131"/>
            <a:ext cx="1285875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Recommendation &amp; Gap Detection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7615238" y="2418159"/>
            <a:ext cx="628650" cy="628650"/>
          </a:xfrm>
          <a:prstGeom prst="rect">
            <a:avLst/>
          </a:prstGeom>
          <a:solidFill>
            <a:srgbClr val="020617"/>
          </a:solidFill>
          <a:ln w="27432">
            <a:solidFill>
              <a:srgbClr val="F1F5F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15238" y="2418159"/>
            <a:ext cx="62865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S5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7630418" y="3132534"/>
            <a:ext cx="59828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06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Messaging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351812" y="3336131"/>
            <a:ext cx="1155502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Notifications &amp; Analytics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20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Microservices Architecture Ecosystem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132284"/>
            <a:ext cx="2524116" cy="3214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32284"/>
            <a:ext cx="28575" cy="3214688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368028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813" y="1766292"/>
            <a:ext cx="2076459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spc="1" kern="0" dirty="0">
                <a:solidFill>
                  <a:srgbClr val="1E293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FRONTEND TIER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785813" y="2252960"/>
            <a:ext cx="125016" cy="10001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96553" y="2225278"/>
            <a:ext cx="9054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19 + Vite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785813" y="2515493"/>
            <a:ext cx="100013" cy="1000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550" y="2487811"/>
            <a:ext cx="71616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API</a:t>
            </a:r>
            <a:endParaRPr lang="en-US" sz="9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785813" y="2778026"/>
            <a:ext cx="100013" cy="10001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71550" y="2750344"/>
            <a:ext cx="112514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 Mode Design</a:t>
            </a:r>
            <a:endParaRPr lang="en-US" sz="9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785813" y="3040559"/>
            <a:ext cx="75009" cy="10001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46547" y="3012877"/>
            <a:ext cx="10269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 Architecture</a:t>
            </a:r>
            <a:endParaRPr lang="en-US" sz="950" dirty="0"/>
          </a:p>
        </p:txBody>
      </p:sp>
      <p:sp>
        <p:nvSpPr>
          <p:cNvPr id="16" name="Shape 8"/>
          <p:cNvSpPr/>
          <p:nvPr/>
        </p:nvSpPr>
        <p:spPr>
          <a:xfrm>
            <a:off x="3290897" y="1132284"/>
            <a:ext cx="2533659" cy="3214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9"/>
          <p:cNvSpPr/>
          <p:nvPr/>
        </p:nvSpPr>
        <p:spPr>
          <a:xfrm>
            <a:off x="3290897" y="1132284"/>
            <a:ext cx="28575" cy="3214688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4725" y="1368028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3514725" y="1766292"/>
            <a:ext cx="208597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spc="1" kern="0" dirty="0">
                <a:solidFill>
                  <a:srgbClr val="1E293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BACKEND TIER</a:t>
            </a:r>
            <a:endParaRPr lang="en-US" sz="11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>
            <a:alphaModFix amt="70000"/>
          </a:blip>
          <a:stretch>
            <a:fillRect/>
          </a:stretch>
        </p:blipFill>
        <p:spPr>
          <a:xfrm>
            <a:off x="3514725" y="2252960"/>
            <a:ext cx="100013" cy="100013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3700463" y="2225278"/>
            <a:ext cx="9394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Boot 3.2</a:t>
            </a:r>
            <a:endParaRPr lang="en-US" sz="95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>
            <a:alphaModFix amt="70000"/>
          </a:blip>
          <a:stretch>
            <a:fillRect/>
          </a:stretch>
        </p:blipFill>
        <p:spPr>
          <a:xfrm>
            <a:off x="3514725" y="2515493"/>
            <a:ext cx="100013" cy="100013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3700463" y="2487811"/>
            <a:ext cx="1375172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Security + JWT</a:t>
            </a:r>
            <a:endParaRPr lang="en-US" sz="95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>
            <a:alphaModFix amt="70000"/>
          </a:blip>
          <a:stretch>
            <a:fillRect/>
          </a:stretch>
        </p:blipFill>
        <p:spPr>
          <a:xfrm>
            <a:off x="3514725" y="2778026"/>
            <a:ext cx="87511" cy="100013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3687961" y="2750344"/>
            <a:ext cx="94833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JPA / Hibernate</a:t>
            </a:r>
            <a:endParaRPr lang="en-US" sz="95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>
            <a:alphaModFix amt="70000"/>
          </a:blip>
          <a:stretch>
            <a:fillRect/>
          </a:stretch>
        </p:blipFill>
        <p:spPr>
          <a:xfrm>
            <a:off x="3514725" y="3040559"/>
            <a:ext cx="125016" cy="100013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3725466" y="3012877"/>
            <a:ext cx="7875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RESTful APIs</a:t>
            </a:r>
            <a:endParaRPr lang="en-US" sz="950" dirty="0"/>
          </a:p>
        </p:txBody>
      </p:sp>
      <p:sp>
        <p:nvSpPr>
          <p:cNvPr id="28" name="Shape 15"/>
          <p:cNvSpPr/>
          <p:nvPr/>
        </p:nvSpPr>
        <p:spPr>
          <a:xfrm>
            <a:off x="6029325" y="1132284"/>
            <a:ext cx="2543175" cy="3214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16"/>
          <p:cNvSpPr/>
          <p:nvPr/>
        </p:nvSpPr>
        <p:spPr>
          <a:xfrm>
            <a:off x="6029325" y="1132284"/>
            <a:ext cx="28575" cy="3214688"/>
          </a:xfrm>
          <a:prstGeom prst="rect">
            <a:avLst/>
          </a:prstGeom>
          <a:solidFill>
            <a:srgbClr val="EC4899"/>
          </a:solidFill>
          <a:ln/>
        </p:spPr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2669" y="1368028"/>
            <a:ext cx="228600" cy="22860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6262669" y="1766292"/>
            <a:ext cx="2095491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spc="1" kern="0" dirty="0">
                <a:solidFill>
                  <a:srgbClr val="1E293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AI ENGINE</a:t>
            </a:r>
            <a:endParaRPr lang="en-US" sz="1100" dirty="0"/>
          </a:p>
        </p:txBody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>
            <a:alphaModFix amt="70000"/>
          </a:blip>
          <a:stretch>
            <a:fillRect/>
          </a:stretch>
        </p:blipFill>
        <p:spPr>
          <a:xfrm>
            <a:off x="6262669" y="2252960"/>
            <a:ext cx="100013" cy="100013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6448406" y="2225278"/>
            <a:ext cx="9251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FastAPI</a:t>
            </a:r>
            <a:endParaRPr lang="en-US" sz="950" dirty="0"/>
          </a:p>
        </p:txBody>
      </p:sp>
      <p:pic>
        <p:nvPicPr>
          <p:cNvPr id="34" name="Image 13" descr="preencoded.png">    </p:cNvPr>
          <p:cNvPicPr>
            <a:picLocks noChangeAspect="1"/>
          </p:cNvPicPr>
          <p:nvPr/>
        </p:nvPicPr>
        <p:blipFill>
          <a:blip r:embed="rId14">
            <a:alphaModFix amt="70000"/>
          </a:blip>
          <a:stretch>
            <a:fillRect/>
          </a:stretch>
        </p:blipFill>
        <p:spPr>
          <a:xfrm>
            <a:off x="6262669" y="2515493"/>
            <a:ext cx="125016" cy="100013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6473410" y="2487811"/>
            <a:ext cx="9590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Sentence-BERT</a:t>
            </a:r>
            <a:endParaRPr lang="en-US" sz="950" dirty="0"/>
          </a:p>
        </p:txBody>
      </p:sp>
      <p:pic>
        <p:nvPicPr>
          <p:cNvPr id="36" name="Image 14" descr="preencoded.png">    </p:cNvPr>
          <p:cNvPicPr>
            <a:picLocks noChangeAspect="1"/>
          </p:cNvPicPr>
          <p:nvPr/>
        </p:nvPicPr>
        <p:blipFill>
          <a:blip r:embed="rId15">
            <a:alphaModFix amt="70000"/>
          </a:blip>
          <a:stretch>
            <a:fillRect/>
          </a:stretch>
        </p:blipFill>
        <p:spPr>
          <a:xfrm>
            <a:off x="6262669" y="2778026"/>
            <a:ext cx="125016" cy="100013"/>
          </a:xfrm>
          <a:prstGeom prst="rect">
            <a:avLst/>
          </a:prstGeom>
        </p:spPr>
      </p:pic>
      <p:sp>
        <p:nvSpPr>
          <p:cNvPr id="37" name="Text 20"/>
          <p:cNvSpPr/>
          <p:nvPr/>
        </p:nvSpPr>
        <p:spPr>
          <a:xfrm>
            <a:off x="6473410" y="2750344"/>
            <a:ext cx="113228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Gemini API</a:t>
            </a:r>
            <a:endParaRPr lang="en-US" sz="950" dirty="0"/>
          </a:p>
        </p:txBody>
      </p:sp>
      <p:pic>
        <p:nvPicPr>
          <p:cNvPr id="38" name="Image 15" descr="preencoded.png">    </p:cNvPr>
          <p:cNvPicPr>
            <a:picLocks noChangeAspect="1"/>
          </p:cNvPicPr>
          <p:nvPr/>
        </p:nvPicPr>
        <p:blipFill>
          <a:blip r:embed="rId16">
            <a:alphaModFix amt="70000"/>
          </a:blip>
          <a:stretch>
            <a:fillRect/>
          </a:stretch>
        </p:blipFill>
        <p:spPr>
          <a:xfrm>
            <a:off x="6262669" y="3040559"/>
            <a:ext cx="112514" cy="100013"/>
          </a:xfrm>
          <a:prstGeom prst="rect">
            <a:avLst/>
          </a:prstGeom>
        </p:spPr>
      </p:pic>
      <p:sp>
        <p:nvSpPr>
          <p:cNvPr id="39" name="Text 21"/>
          <p:cNvSpPr/>
          <p:nvPr/>
        </p:nvSpPr>
        <p:spPr>
          <a:xfrm>
            <a:off x="6460908" y="3012877"/>
            <a:ext cx="89654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Caching</a:t>
            </a:r>
            <a:endParaRPr lang="en-US" sz="950" dirty="0"/>
          </a:p>
        </p:txBody>
      </p:sp>
      <p:pic>
        <p:nvPicPr>
          <p:cNvPr id="4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4993481"/>
            <a:ext cx="112514" cy="128588"/>
          </a:xfrm>
          <a:prstGeom prst="rect">
            <a:avLst/>
          </a:prstGeom>
        </p:spPr>
      </p:pic>
      <p:sp>
        <p:nvSpPr>
          <p:cNvPr id="41" name="Text 22"/>
          <p:cNvSpPr/>
          <p:nvPr/>
        </p:nvSpPr>
        <p:spPr>
          <a:xfrm>
            <a:off x="684014" y="4979194"/>
            <a:ext cx="3432572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DATA PERSISTENCE: PostgreSQL 15 hosted on Supabase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20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Security and Access Control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132284"/>
            <a:ext cx="3786188" cy="1305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32284"/>
            <a:ext cx="28575" cy="1305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3"/>
          <p:cNvSpPr/>
          <p:nvPr/>
        </p:nvSpPr>
        <p:spPr>
          <a:xfrm>
            <a:off x="785813" y="1346597"/>
            <a:ext cx="3357563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C489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AUTHENTICATION STANDARD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85813" y="1566267"/>
            <a:ext cx="3357563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06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JWT (JSON Web Tokens)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5813" y="1891308"/>
            <a:ext cx="3357563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Stateless authentication mechanism ensuring secure, scalable, and cross-domain user verification without server-side session storage.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1500" y="2652117"/>
            <a:ext cx="3786188" cy="1305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2652117"/>
            <a:ext cx="28575" cy="1305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8"/>
          <p:cNvSpPr/>
          <p:nvPr/>
        </p:nvSpPr>
        <p:spPr>
          <a:xfrm>
            <a:off x="785813" y="2866430"/>
            <a:ext cx="3357563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C489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DATA PROTECTION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785813" y="3086100"/>
            <a:ext cx="3357563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06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BCrypt Encryption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85813" y="3411141"/>
            <a:ext cx="3357563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Industry-standard adaptive hashing for password security, protecting user credentials against brute-force and rainbow table attacks.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86313" y="1132284"/>
            <a:ext cx="3786188" cy="3286125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15" name="Shape 12"/>
          <p:cNvSpPr/>
          <p:nvPr/>
        </p:nvSpPr>
        <p:spPr>
          <a:xfrm>
            <a:off x="4786313" y="1132284"/>
            <a:ext cx="42863" cy="328612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3"/>
          <p:cNvSpPr/>
          <p:nvPr/>
        </p:nvSpPr>
        <p:spPr>
          <a:xfrm>
            <a:off x="5072063" y="1418034"/>
            <a:ext cx="3214688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RBAC HIERARCHY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072063" y="1800225"/>
            <a:ext cx="357188" cy="357188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359" y="1907381"/>
            <a:ext cx="178594" cy="14287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572125" y="1744861"/>
            <a:ext cx="271462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Administrator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572125" y="1955602"/>
            <a:ext cx="27146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configuration, user management, and global analytics.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5072063" y="2482453"/>
            <a:ext cx="357188" cy="357188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359" y="2589609"/>
            <a:ext cx="178594" cy="14287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572125" y="2427089"/>
            <a:ext cx="271462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Teacher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572125" y="2637830"/>
            <a:ext cx="27146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 creation, content management, and student tracking.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5072063" y="3164681"/>
            <a:ext cx="357188" cy="357188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9219" y="3271838"/>
            <a:ext cx="142875" cy="14287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72125" y="3109317"/>
            <a:ext cx="271462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Student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572125" y="3320058"/>
            <a:ext cx="27146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 enrollment, learning progression, and quiz participation.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20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Structured Learning Paths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778669" y="1239441"/>
            <a:ext cx="3040000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06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Hierarchical Management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78669" y="1498402"/>
            <a:ext cx="30400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Courses are organized into sequential chapters supporting PDF, Video, and PPTX materials.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78669" y="2205633"/>
            <a:ext cx="3040000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06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Strict Progression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8669" y="2464594"/>
            <a:ext cx="30400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algorithms ensure students master current content before unlocking the next chapter.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78669" y="3364706"/>
            <a:ext cx="3040000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06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Real-time Monitoring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8669" y="3623667"/>
            <a:ext cx="30400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progress tracking for both students and teachers to identify advancement speed.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104419" y="1132284"/>
            <a:ext cx="4468081" cy="389513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11" name="Text 8"/>
          <p:cNvSpPr/>
          <p:nvPr/>
        </p:nvSpPr>
        <p:spPr>
          <a:xfrm>
            <a:off x="4390169" y="1418034"/>
            <a:ext cx="3896581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EC489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PROGRESSION LOGIC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40150" y="1814513"/>
            <a:ext cx="4196618" cy="58578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169" y="2100263"/>
            <a:ext cx="142875" cy="1428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40200" y="2102941"/>
            <a:ext cx="122336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1: Introduction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7625953" y="2088654"/>
            <a:ext cx="660797" cy="16609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2"/>
          <p:cNvSpPr/>
          <p:nvPr/>
        </p:nvSpPr>
        <p:spPr>
          <a:xfrm>
            <a:off x="7625953" y="2088654"/>
            <a:ext cx="660797" cy="166092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COMPLETED</a:t>
            </a:r>
            <a:endParaRPr lang="en-US" sz="6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166" y="2528888"/>
            <a:ext cx="128588" cy="17145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240150" y="2843213"/>
            <a:ext cx="4196618" cy="585788"/>
          </a:xfrm>
          <a:prstGeom prst="rect">
            <a:avLst/>
          </a:prstGeom>
          <a:solidFill>
            <a:srgbClr val="1E293B"/>
          </a:solidFill>
          <a:ln w="9144">
            <a:solidFill>
              <a:srgbClr val="EC4899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0169" y="3128963"/>
            <a:ext cx="142875" cy="1428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640200" y="3131641"/>
            <a:ext cx="1405533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2: Core Concepts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7588448" y="3117354"/>
            <a:ext cx="698302" cy="16609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2" name="Text 16"/>
          <p:cNvSpPr/>
          <p:nvPr/>
        </p:nvSpPr>
        <p:spPr>
          <a:xfrm>
            <a:off x="7588448" y="3117354"/>
            <a:ext cx="698302" cy="166092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 PROGRESS</a:t>
            </a:r>
            <a:endParaRPr lang="en-US" sz="6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6274166" y="3557588"/>
            <a:ext cx="128588" cy="17145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4240150" y="3871913"/>
            <a:ext cx="4196618" cy="585788"/>
          </a:xfrm>
          <a:prstGeom prst="rect">
            <a:avLst/>
          </a:prstGeom>
          <a:solidFill>
            <a:srgbClr val="1E293B">
              <a:alpha val="50000"/>
            </a:srgbClr>
          </a:solidFill>
          <a:ln w="9144">
            <a:solidFill>
              <a:srgbClr val="334155">
                <a:alpha val="50000"/>
              </a:srgbClr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0169" y="4157663"/>
            <a:ext cx="125016" cy="14287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622341" y="4160341"/>
            <a:ext cx="128587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3: Advanced AI</a:t>
            </a:r>
            <a:endParaRPr lang="en-US" sz="850" dirty="0"/>
          </a:p>
        </p:txBody>
      </p:sp>
      <p:sp>
        <p:nvSpPr>
          <p:cNvPr id="27" name="Shape 19"/>
          <p:cNvSpPr/>
          <p:nvPr/>
        </p:nvSpPr>
        <p:spPr>
          <a:xfrm>
            <a:off x="7799189" y="4146054"/>
            <a:ext cx="487561" cy="16609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8" name="Text 20"/>
          <p:cNvSpPr/>
          <p:nvPr/>
        </p:nvSpPr>
        <p:spPr>
          <a:xfrm>
            <a:off x="7799189" y="4146054"/>
            <a:ext cx="487561" cy="166092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4A3B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LOCKED</a:t>
            </a:r>
            <a:endParaRPr lang="en-US" sz="600" dirty="0"/>
          </a:p>
        </p:txBody>
      </p:sp>
      <p:sp>
        <p:nvSpPr>
          <p:cNvPr id="29" name="Shape 21"/>
          <p:cNvSpPr/>
          <p:nvPr/>
        </p:nvSpPr>
        <p:spPr>
          <a:xfrm>
            <a:off x="4390169" y="4729163"/>
            <a:ext cx="3896581" cy="5715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0" name="Text 22"/>
          <p:cNvSpPr/>
          <p:nvPr/>
        </p:nvSpPr>
        <p:spPr>
          <a:xfrm>
            <a:off x="4390169" y="4857750"/>
            <a:ext cx="3896581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Overall Course Progress: 65%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20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Evaluation and Gap Detection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132284"/>
            <a:ext cx="3821906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8B5CF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INTERACTIVE EVALUATION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71500" y="1439466"/>
            <a:ext cx="3821906" cy="35415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439466"/>
            <a:ext cx="28575" cy="354151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689497"/>
            <a:ext cx="142875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35844" y="1810941"/>
            <a:ext cx="3143250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06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Dynamic Quiz System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035844" y="2127052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for Multiple Choice Questions (MCQ) and practical exercises with automated correction.</a:t>
            </a:r>
            <a:endParaRPr lang="en-US" sz="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2798564"/>
            <a:ext cx="107156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0125" y="2920008"/>
            <a:ext cx="3178969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06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Instant Feedback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1000125" y="3236119"/>
            <a:ext cx="31789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scoring and result generation immediately after submission to reinforce learning.</a:t>
            </a:r>
            <a:endParaRPr lang="en-US" sz="8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3907631"/>
            <a:ext cx="142875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35844" y="4029075"/>
            <a:ext cx="3143250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06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Performance Tracking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1035844" y="4345186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Detailed history of attempts and scores to monitor individual student growth over time.</a:t>
            </a:r>
            <a:endParaRPr lang="en-US" sz="850" dirty="0"/>
          </a:p>
        </p:txBody>
      </p:sp>
      <p:sp>
        <p:nvSpPr>
          <p:cNvPr id="16" name="Text 10"/>
          <p:cNvSpPr/>
          <p:nvPr/>
        </p:nvSpPr>
        <p:spPr>
          <a:xfrm>
            <a:off x="4750594" y="1132284"/>
            <a:ext cx="3821906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8B5CF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AI-DRIVEN GAP DETECTION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4750594" y="1439466"/>
            <a:ext cx="3821906" cy="29396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2"/>
          <p:cNvSpPr/>
          <p:nvPr/>
        </p:nvSpPr>
        <p:spPr>
          <a:xfrm>
            <a:off x="4750594" y="1439466"/>
            <a:ext cx="28575" cy="2939653"/>
          </a:xfrm>
          <a:prstGeom prst="rect">
            <a:avLst/>
          </a:prstGeom>
          <a:solidFill>
            <a:srgbClr val="EC4899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4906" y="1689497"/>
            <a:ext cx="142875" cy="14287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14938" y="1810941"/>
            <a:ext cx="3143250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06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Weak Topic Detector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5214938" y="2127052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algorithms analyze quiz errors to identify specific pedagogical concepts that require review.</a:t>
            </a:r>
            <a:endParaRPr lang="en-US" sz="8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4906" y="2798564"/>
            <a:ext cx="107156" cy="14287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179219" y="2920008"/>
            <a:ext cx="3178969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06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Pedagogical Insights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5179219" y="3236119"/>
            <a:ext cx="31789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generation of textual feedback and recommendations based on detected knowledge gaps.</a:t>
            </a:r>
            <a:endParaRPr lang="en-US" sz="850" dirty="0"/>
          </a:p>
        </p:txBody>
      </p:sp>
      <p:sp>
        <p:nvSpPr>
          <p:cNvPr id="25" name="Shape 17"/>
          <p:cNvSpPr/>
          <p:nvPr/>
        </p:nvSpPr>
        <p:spPr>
          <a:xfrm>
            <a:off x="4964906" y="3907631"/>
            <a:ext cx="3393281" cy="471488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26" name="Shape 18"/>
          <p:cNvSpPr/>
          <p:nvPr/>
        </p:nvSpPr>
        <p:spPr>
          <a:xfrm>
            <a:off x="4964906" y="3907631"/>
            <a:ext cx="28575" cy="47148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Text 19"/>
          <p:cNvSpPr/>
          <p:nvPr/>
        </p:nvSpPr>
        <p:spPr>
          <a:xfrm>
            <a:off x="4964906" y="3907631"/>
            <a:ext cx="3393281" cy="471488"/>
          </a:xfrm>
          <a:prstGeom prst="rect">
            <a:avLst/>
          </a:prstGeom>
          <a:noFill/>
          <a:ln/>
        </p:spPr>
        <p:txBody>
          <a:bodyPr wrap="square" lIns="212598" tIns="170053" rIns="212598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"Transforming raw assessment data into actionable learning intelligence."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20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Semantic Recommendation Engine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132284"/>
            <a:ext cx="2524116" cy="3214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32284"/>
            <a:ext cx="28575" cy="3214688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368028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813" y="1766292"/>
            <a:ext cx="2076459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06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1. NLP PROCESSING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85813" y="2096691"/>
            <a:ext cx="202346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Multilingual query expansion and text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785813" y="2279554"/>
            <a:ext cx="175379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extraction from course materials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785813" y="2462417"/>
            <a:ext cx="109120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(PDF, DOCX, PPTX).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785813" y="2878150"/>
            <a:ext cx="528638" cy="217159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12" name="Text 8"/>
          <p:cNvSpPr/>
          <p:nvPr/>
        </p:nvSpPr>
        <p:spPr>
          <a:xfrm>
            <a:off x="785813" y="2878150"/>
            <a:ext cx="528638" cy="217159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FastAPI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1382316" y="2878150"/>
            <a:ext cx="764381" cy="217159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14" name="Text 10"/>
          <p:cNvSpPr/>
          <p:nvPr/>
        </p:nvSpPr>
        <p:spPr>
          <a:xfrm>
            <a:off x="1382316" y="2878150"/>
            <a:ext cx="764381" cy="217159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NLP Bilingue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3290897" y="1132284"/>
            <a:ext cx="2533659" cy="3214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3290897" y="1132284"/>
            <a:ext cx="28575" cy="3214688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725" y="136802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514725" y="1766292"/>
            <a:ext cx="208597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06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2. S-BERT EMBEDDING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514725" y="2096691"/>
            <a:ext cx="154126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of text into high-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3514725" y="2279554"/>
            <a:ext cx="14430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dimensional vectors using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3514725" y="2279554"/>
            <a:ext cx="2003822" cy="32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Sentence-BERT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3804047" y="2462417"/>
            <a:ext cx="100905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deep semantic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3514725" y="2645280"/>
            <a:ext cx="81260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understanding.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3514725" y="3061013"/>
            <a:ext cx="1301948" cy="217159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25" name="Text 20"/>
          <p:cNvSpPr/>
          <p:nvPr/>
        </p:nvSpPr>
        <p:spPr>
          <a:xfrm>
            <a:off x="3514725" y="3061013"/>
            <a:ext cx="1301948" cy="217159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Sentence-Transformers</a:t>
            </a:r>
            <a:endParaRPr lang="en-US" sz="750" dirty="0"/>
          </a:p>
        </p:txBody>
      </p:sp>
      <p:sp>
        <p:nvSpPr>
          <p:cNvPr id="26" name="Shape 21"/>
          <p:cNvSpPr/>
          <p:nvPr/>
        </p:nvSpPr>
        <p:spPr>
          <a:xfrm>
            <a:off x="3514725" y="3349609"/>
            <a:ext cx="969764" cy="217159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27" name="Text 22"/>
          <p:cNvSpPr/>
          <p:nvPr/>
        </p:nvSpPr>
        <p:spPr>
          <a:xfrm>
            <a:off x="3514725" y="3349609"/>
            <a:ext cx="969764" cy="217159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Cosine Similarity</a:t>
            </a:r>
            <a:endParaRPr lang="en-US" sz="750" dirty="0"/>
          </a:p>
        </p:txBody>
      </p:sp>
      <p:sp>
        <p:nvSpPr>
          <p:cNvPr id="28" name="Shape 23"/>
          <p:cNvSpPr/>
          <p:nvPr/>
        </p:nvSpPr>
        <p:spPr>
          <a:xfrm>
            <a:off x="6029325" y="1132284"/>
            <a:ext cx="2543175" cy="3214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4"/>
          <p:cNvSpPr/>
          <p:nvPr/>
        </p:nvSpPr>
        <p:spPr>
          <a:xfrm>
            <a:off x="6029325" y="1132284"/>
            <a:ext cx="28575" cy="3214688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69" y="1368028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262669" y="1766292"/>
            <a:ext cx="2095491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06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3. HYBRID SCORING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6262669" y="2096691"/>
            <a:ext cx="18859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Combining semantic similarity with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6262669" y="2279554"/>
            <a:ext cx="174307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 popularity and relevance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6262669" y="2462417"/>
            <a:ext cx="179129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metrics to deliver optimal results.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6262669" y="2878150"/>
            <a:ext cx="723305" cy="217159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36" name="Text 30"/>
          <p:cNvSpPr/>
          <p:nvPr/>
        </p:nvSpPr>
        <p:spPr>
          <a:xfrm>
            <a:off x="6262669" y="2878150"/>
            <a:ext cx="723305" cy="217159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Scikit-learn</a:t>
            </a:r>
            <a:endParaRPr lang="en-US" sz="750" dirty="0"/>
          </a:p>
        </p:txBody>
      </p:sp>
      <p:sp>
        <p:nvSpPr>
          <p:cNvPr id="37" name="Shape 31"/>
          <p:cNvSpPr/>
          <p:nvPr/>
        </p:nvSpPr>
        <p:spPr>
          <a:xfrm>
            <a:off x="7053839" y="2878150"/>
            <a:ext cx="857250" cy="217159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38" name="Text 32"/>
          <p:cNvSpPr/>
          <p:nvPr/>
        </p:nvSpPr>
        <p:spPr>
          <a:xfrm>
            <a:off x="7053839" y="2878150"/>
            <a:ext cx="857250" cy="217159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SearchService</a:t>
            </a:r>
            <a:endParaRPr lang="en-US" sz="750" dirty="0"/>
          </a:p>
        </p:txBody>
      </p:sp>
      <p:sp>
        <p:nvSpPr>
          <p:cNvPr id="39" name="Shape 33"/>
          <p:cNvSpPr/>
          <p:nvPr/>
        </p:nvSpPr>
        <p:spPr>
          <a:xfrm>
            <a:off x="571500" y="4632722"/>
            <a:ext cx="8001000" cy="325041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40" name="Shape 34"/>
          <p:cNvSpPr/>
          <p:nvPr/>
        </p:nvSpPr>
        <p:spPr>
          <a:xfrm>
            <a:off x="571500" y="4632722"/>
            <a:ext cx="42863" cy="325041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1" name="Text 35"/>
          <p:cNvSpPr/>
          <p:nvPr/>
        </p:nvSpPr>
        <p:spPr>
          <a:xfrm>
            <a:off x="785813" y="4775597"/>
            <a:ext cx="778668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"Connects students with the most relevant courses based on their specific learning needs and interests."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4486275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20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Intelligent AI Tutor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132284"/>
            <a:ext cx="4200525" cy="8161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32284"/>
            <a:ext cx="28575" cy="816173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333202"/>
            <a:ext cx="157163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0131" y="1310878"/>
            <a:ext cx="1591270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06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Contextual Guidance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85813" y="1584127"/>
            <a:ext cx="377190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</a:t>
            </a:r>
            <a:r>
              <a:rPr lang="en-US" sz="8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Gemini API</a:t>
            </a: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provides 24/7 personalized </a:t>
            </a: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explanations and answers to complex pedagogical questions.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71500" y="2127052"/>
            <a:ext cx="4200525" cy="8161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571500" y="2127052"/>
            <a:ext cx="28575" cy="816173"/>
          </a:xfrm>
          <a:prstGeom prst="rect">
            <a:avLst/>
          </a:prstGeom>
          <a:solidFill>
            <a:srgbClr val="EC4899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2327970"/>
            <a:ext cx="117872" cy="1571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10841" y="2305645"/>
            <a:ext cx="1575197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06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Smart Caching Layer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785813" y="2578894"/>
            <a:ext cx="377190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 a database caching mechanism to reduce latency to zero for frequently asked questions, optimizing API costs.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71500" y="3121819"/>
            <a:ext cx="4200525" cy="8161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0"/>
          <p:cNvSpPr/>
          <p:nvPr/>
        </p:nvSpPr>
        <p:spPr>
          <a:xfrm>
            <a:off x="571500" y="3121819"/>
            <a:ext cx="28575" cy="816173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3322737"/>
            <a:ext cx="157163" cy="15716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50131" y="3300413"/>
            <a:ext cx="1732359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06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Multi-Model Resilience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785813" y="3573661"/>
            <a:ext cx="377190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fallback strategy between Gemini Flash and Pro models ensures continuous availability and system robustness.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057775" y="0"/>
            <a:ext cx="4086225" cy="514350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20" name="Text 14"/>
          <p:cNvSpPr/>
          <p:nvPr/>
        </p:nvSpPr>
        <p:spPr>
          <a:xfrm>
            <a:off x="5414963" y="714375"/>
            <a:ext cx="3371850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POWERED BY GEMINI</a:t>
            </a:r>
            <a:endParaRPr lang="en-US" sz="750" dirty="0"/>
          </a:p>
        </p:txBody>
      </p:sp>
      <p:sp>
        <p:nvSpPr>
          <p:cNvPr id="21" name="Shape 15"/>
          <p:cNvSpPr/>
          <p:nvPr/>
        </p:nvSpPr>
        <p:spPr>
          <a:xfrm>
            <a:off x="5414963" y="1005483"/>
            <a:ext cx="3371850" cy="1725830"/>
          </a:xfrm>
          <a:prstGeom prst="rect">
            <a:avLst/>
          </a:prstGeom>
          <a:solidFill>
            <a:srgbClr val="0F172A"/>
          </a:solidFill>
          <a:ln w="18288">
            <a:solidFill>
              <a:srgbClr val="1E293B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629275" y="1219795"/>
            <a:ext cx="2943225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"Simulating a human tutor's presence to offer 24/7 support to every learner."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629275" y="2154148"/>
            <a:ext cx="294322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Adaptive Explanations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Real-time Q&amp;A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Knowledge Reinforcement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5414963" y="4738092"/>
            <a:ext cx="337185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CORE INTEGRATION</a:t>
            </a:r>
            <a:endParaRPr lang="en-US" sz="7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4963" y="4972050"/>
            <a:ext cx="171450" cy="171450"/>
          </a:xfrm>
          <a:prstGeom prst="rect">
            <a:avLst/>
          </a:prstGeom>
        </p:spPr>
      </p:pic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9288" y="4972050"/>
            <a:ext cx="214313" cy="171450"/>
          </a:xfrm>
          <a:prstGeom prst="rect">
            <a:avLst/>
          </a:prstGeom>
        </p:spPr>
      </p:pic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6475" y="4972050"/>
            <a:ext cx="150019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20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Analytics and Messaging System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060847"/>
            <a:ext cx="3821906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8B5CF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ADVANCED ANALYTICS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71500" y="1368028"/>
            <a:ext cx="3821906" cy="3071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368028"/>
            <a:ext cx="28575" cy="3071813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582341"/>
            <a:ext cx="3364706" cy="157162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85813" y="3296841"/>
            <a:ext cx="1643063" cy="48220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5"/>
          <p:cNvSpPr/>
          <p:nvPr/>
        </p:nvSpPr>
        <p:spPr>
          <a:xfrm>
            <a:off x="785813" y="3296841"/>
            <a:ext cx="1643063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6"/>
          <p:cNvSpPr/>
          <p:nvPr/>
        </p:nvSpPr>
        <p:spPr>
          <a:xfrm>
            <a:off x="892969" y="3403997"/>
            <a:ext cx="1535906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061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84%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92969" y="3659386"/>
            <a:ext cx="1535906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SUCCESS RATE</a:t>
            </a:r>
            <a:endParaRPr lang="en-US" sz="600" dirty="0"/>
          </a:p>
        </p:txBody>
      </p:sp>
      <p:sp>
        <p:nvSpPr>
          <p:cNvPr id="12" name="Shape 8"/>
          <p:cNvSpPr/>
          <p:nvPr/>
        </p:nvSpPr>
        <p:spPr>
          <a:xfrm>
            <a:off x="2536031" y="3296841"/>
            <a:ext cx="1643063" cy="48220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9"/>
          <p:cNvSpPr/>
          <p:nvPr/>
        </p:nvSpPr>
        <p:spPr>
          <a:xfrm>
            <a:off x="2536031" y="3296841"/>
            <a:ext cx="1643063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0"/>
          <p:cNvSpPr/>
          <p:nvPr/>
        </p:nvSpPr>
        <p:spPr>
          <a:xfrm>
            <a:off x="2643188" y="3403997"/>
            <a:ext cx="1535906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061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+12%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643188" y="3659386"/>
            <a:ext cx="1535906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 TREND</a:t>
            </a:r>
            <a:endParaRPr lang="en-US" sz="600" dirty="0"/>
          </a:p>
        </p:txBody>
      </p:sp>
      <p:sp>
        <p:nvSpPr>
          <p:cNvPr id="16" name="Text 12"/>
          <p:cNvSpPr/>
          <p:nvPr/>
        </p:nvSpPr>
        <p:spPr>
          <a:xfrm>
            <a:off x="4750594" y="1060847"/>
            <a:ext cx="3821906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8B5CF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INTELLIGENT MESSAGING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750594" y="1368028"/>
            <a:ext cx="3821906" cy="3161109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18" name="Shape 14"/>
          <p:cNvSpPr/>
          <p:nvPr/>
        </p:nvSpPr>
        <p:spPr>
          <a:xfrm>
            <a:off x="4750594" y="1368028"/>
            <a:ext cx="42863" cy="3161109"/>
          </a:xfrm>
          <a:prstGeom prst="rect">
            <a:avLst/>
          </a:prstGeom>
          <a:solidFill>
            <a:srgbClr val="EC4899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344" y="1705570"/>
            <a:ext cx="171450" cy="1714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50669" y="1796653"/>
            <a:ext cx="2936081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Automated Notifications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350669" y="2085975"/>
            <a:ext cx="293608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alerts for course updates, new materials, and teacher announcements via SMTP.</a:t>
            </a:r>
            <a:endParaRPr lang="en-US" sz="8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6344" y="2723555"/>
            <a:ext cx="150019" cy="1714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29238" y="2814638"/>
            <a:ext cx="295751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Engagement Triggers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329238" y="3103959"/>
            <a:ext cx="295751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inactivity reminders and motivational nudges based on student login patterns.</a:t>
            </a:r>
            <a:endParaRPr lang="en-US" sz="8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6344" y="3741539"/>
            <a:ext cx="214313" cy="17145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93531" y="3832622"/>
            <a:ext cx="2893219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Security &amp; Recovery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5393531" y="4121944"/>
            <a:ext cx="289321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account validation and token-based password recovery workflows.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20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 and Future Perspectives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960834"/>
            <a:ext cx="378618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8B5CF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KEY ACHIEVEMENTS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71500" y="1253728"/>
            <a:ext cx="3786188" cy="7393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253728"/>
            <a:ext cx="28575" cy="73937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4"/>
          <p:cNvSpPr/>
          <p:nvPr/>
        </p:nvSpPr>
        <p:spPr>
          <a:xfrm>
            <a:off x="742950" y="1339453"/>
            <a:ext cx="344328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06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Complete AI Integration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42950" y="1564481"/>
            <a:ext cx="34432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delivered a functional platform combining semantic recommendation and intelligent tutoring.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71500" y="2078831"/>
            <a:ext cx="3786188" cy="7393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2078831"/>
            <a:ext cx="28575" cy="73937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8"/>
          <p:cNvSpPr/>
          <p:nvPr/>
        </p:nvSpPr>
        <p:spPr>
          <a:xfrm>
            <a:off x="742950" y="2164556"/>
            <a:ext cx="344328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06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Robust Architecture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2950" y="2389584"/>
            <a:ext cx="34432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Mastered microservices using Spring Boot, React, and FastAPI with secure JWT authentication.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71500" y="2903934"/>
            <a:ext cx="3786188" cy="7393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571500" y="2903934"/>
            <a:ext cx="28575" cy="73937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2"/>
          <p:cNvSpPr/>
          <p:nvPr/>
        </p:nvSpPr>
        <p:spPr>
          <a:xfrm>
            <a:off x="742950" y="2989659"/>
            <a:ext cx="344328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06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Pedagogical Innovation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2950" y="3214688"/>
            <a:ext cx="34432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 strict progression tracking and automated gap detection to enhance learning outcomes.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786313" y="960834"/>
            <a:ext cx="378618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EC489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FUTURE ROADMAP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786313" y="1253728"/>
            <a:ext cx="3786188" cy="2714625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19" name="Shape 16"/>
          <p:cNvSpPr/>
          <p:nvPr/>
        </p:nvSpPr>
        <p:spPr>
          <a:xfrm>
            <a:off x="4786313" y="1253728"/>
            <a:ext cx="42863" cy="2714625"/>
          </a:xfrm>
          <a:prstGeom prst="rect">
            <a:avLst/>
          </a:prstGeom>
          <a:solidFill>
            <a:srgbClr val="EC4899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188" y="1482328"/>
            <a:ext cx="107156" cy="14287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150644" y="1396603"/>
            <a:ext cx="259139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Mobile Application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150644" y="1589484"/>
            <a:ext cx="259139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 with React Native for learning on-the-go.</a:t>
            </a:r>
            <a:endParaRPr lang="en-US" sz="7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88" y="1910953"/>
            <a:ext cx="178594" cy="14287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22081" y="1825228"/>
            <a:ext cx="2655689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Gamification Engine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5222081" y="2018109"/>
            <a:ext cx="265568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Badges, leaderboards, and points to boost engagement.</a:t>
            </a:r>
            <a:endParaRPr lang="en-US" sz="7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188" y="2339578"/>
            <a:ext cx="142875" cy="14287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186363" y="2253853"/>
            <a:ext cx="291465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Adaptive Learning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5186363" y="2446734"/>
            <a:ext cx="29146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path adjustment based on AI performance analysis.</a:t>
            </a:r>
            <a:endParaRPr lang="en-US" sz="75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2768203"/>
            <a:ext cx="178594" cy="14287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222081" y="2682478"/>
            <a:ext cx="282892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Cloud Scalability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5222081" y="2875359"/>
            <a:ext cx="28289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Containerization with Docker and Kubernetes orchestration.</a:t>
            </a:r>
            <a:endParaRPr lang="en-US" sz="750" dirty="0"/>
          </a:p>
        </p:txBody>
      </p:sp>
      <p:sp>
        <p:nvSpPr>
          <p:cNvPr id="32" name="Shape 25"/>
          <p:cNvSpPr/>
          <p:nvPr/>
        </p:nvSpPr>
        <p:spPr>
          <a:xfrm>
            <a:off x="0" y="4355902"/>
            <a:ext cx="9144000" cy="7875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3" name="Shape 26"/>
          <p:cNvSpPr/>
          <p:nvPr/>
        </p:nvSpPr>
        <p:spPr>
          <a:xfrm>
            <a:off x="0" y="4355902"/>
            <a:ext cx="9144000" cy="7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4" name="Text 27"/>
          <p:cNvSpPr/>
          <p:nvPr/>
        </p:nvSpPr>
        <p:spPr>
          <a:xfrm>
            <a:off x="0" y="4355902"/>
            <a:ext cx="9144000" cy="787598"/>
          </a:xfrm>
          <a:prstGeom prst="rect">
            <a:avLst/>
          </a:prstGeom>
          <a:noFill/>
          <a:ln/>
        </p:spPr>
        <p:txBody>
          <a:bodyPr wrap="square" lIns="680339" tIns="340233" rIns="0" bIns="340233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20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Thank you for your attention.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2026-04-29T21:10:34Z</dcterms:created>
  <dcterms:modified xsi:type="dcterms:W3CDTF">2026-04-29T21:10:34Z</dcterms:modified>
</cp:coreProperties>
</file>